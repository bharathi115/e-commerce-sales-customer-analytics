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75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02762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E-Commerce Sales &amp; Customer Analytics</a:t>
            </a:r>
          </a:p>
          <a:p>
            <a:pPr algn="ctr">
              <a:defRPr sz="2000">
                <a:solidFill>
                  <a:srgbClr val="326991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SQL Database &amp; Business Analytics Project</a:t>
            </a:r>
          </a:p>
          <a:p>
            <a:pPr algn="ctr">
              <a:defRPr sz="14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MySQL | Sales | Customers | Products | Payments | Customer Funnel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069080"/>
            <a:ext cx="1920240" cy="105156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4160520"/>
            <a:ext cx="946093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TABLES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4069080"/>
            <a:ext cx="1920240" cy="105156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4160520"/>
            <a:ext cx="1313180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CUSTOMERS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69080"/>
            <a:ext cx="1920240" cy="105156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4160520"/>
            <a:ext cx="938077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ORDERS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4069080"/>
            <a:ext cx="1920240" cy="105156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4160520"/>
            <a:ext cx="923651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EVENTS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arallelogram 12"/>
          <p:cNvSpPr/>
          <p:nvPr/>
        </p:nvSpPr>
        <p:spPr>
          <a:xfrm>
            <a:off x="8869680" y="-411480"/>
            <a:ext cx="4114800" cy="182880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rallelogram 13"/>
          <p:cNvSpPr/>
          <p:nvPr/>
        </p:nvSpPr>
        <p:spPr>
          <a:xfrm>
            <a:off x="10149840" y="5212080"/>
            <a:ext cx="2743200" cy="155448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arallelogram 14"/>
          <p:cNvSpPr/>
          <p:nvPr/>
        </p:nvSpPr>
        <p:spPr>
          <a:xfrm>
            <a:off x="-640080" y="5303520"/>
            <a:ext cx="2926080" cy="137160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0"/>
                </a:solidFill>
              </a:defRPr>
            </a:pPr>
            <a:r>
              <a:rPr/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42146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6991"/>
                </a:solidFill>
              </a:defRPr>
            </a:pPr>
            <a:r>
              <a:rPr sz="1600">
                <a:latin typeface="Algerian" pitchFamily="82" charset="0"/>
              </a:rPr>
              <a:t>Business goals and analytical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459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 lang="en-IN" dirty="0" smtClean="0">
                <a:latin typeface="Algerian" pitchFamily="82" charset="0"/>
              </a:rPr>
              <a:t>  </a:t>
            </a:r>
            <a:r>
              <a:rPr smtClean="0">
                <a:latin typeface="Algerian" pitchFamily="82" charset="0"/>
              </a:rPr>
              <a:t>Build </a:t>
            </a:r>
            <a:r>
              <a:rPr>
                <a:latin typeface="Algerian" pitchFamily="82" charset="0"/>
              </a:rPr>
              <a:t>a structured e-commerce database using MySQL.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 lang="en-IN" dirty="0" smtClean="0">
                <a:latin typeface="Algerian" pitchFamily="82" charset="0"/>
              </a:rPr>
              <a:t>  </a:t>
            </a:r>
            <a:r>
              <a:rPr smtClean="0">
                <a:latin typeface="Algerian" pitchFamily="82" charset="0"/>
              </a:rPr>
              <a:t>Connect </a:t>
            </a:r>
            <a:r>
              <a:rPr>
                <a:latin typeface="Algerian" pitchFamily="82" charset="0"/>
              </a:rPr>
              <a:t>customer, product, order, payment and behavioral event data.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 lang="en-IN" dirty="0" smtClean="0">
                <a:latin typeface="Algerian" pitchFamily="82" charset="0"/>
              </a:rPr>
              <a:t>  </a:t>
            </a:r>
            <a:r>
              <a:rPr smtClean="0">
                <a:latin typeface="Algerian" pitchFamily="82" charset="0"/>
              </a:rPr>
              <a:t>Analyze </a:t>
            </a:r>
            <a:r>
              <a:rPr>
                <a:latin typeface="Algerian" pitchFamily="82" charset="0"/>
              </a:rPr>
              <a:t>revenue, quantity sold, profit and shipping cost.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 lang="en-IN" dirty="0" smtClean="0">
                <a:latin typeface="Algerian" pitchFamily="82" charset="0"/>
              </a:rPr>
              <a:t>  </a:t>
            </a:r>
            <a:r>
              <a:rPr smtClean="0">
                <a:latin typeface="Algerian" pitchFamily="82" charset="0"/>
              </a:rPr>
              <a:t>Identify top customers, products, categories and regions.</a:t>
            </a:r>
            <a:endParaRPr>
              <a:latin typeface="Algerian" pitchFamily="82" charset="0"/>
            </a:endParaRP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 lang="en-IN" dirty="0" smtClean="0">
                <a:latin typeface="Algerian" pitchFamily="82" charset="0"/>
              </a:rPr>
              <a:t>   </a:t>
            </a:r>
            <a:r>
              <a:rPr smtClean="0">
                <a:latin typeface="Algerian" pitchFamily="82" charset="0"/>
              </a:rPr>
              <a:t>Measure </a:t>
            </a:r>
            <a:r>
              <a:rPr>
                <a:latin typeface="Algerian" pitchFamily="82" charset="0"/>
              </a:rPr>
              <a:t>the customer journey: Product View → Add to Cart → Purchase.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 lang="en-IN" dirty="0" smtClean="0">
                <a:latin typeface="Algerian" pitchFamily="82" charset="0"/>
              </a:rPr>
              <a:t>   </a:t>
            </a:r>
            <a:r>
              <a:rPr smtClean="0">
                <a:latin typeface="Algerian" pitchFamily="82" charset="0"/>
              </a:rPr>
              <a:t>Create </a:t>
            </a:r>
            <a:r>
              <a:rPr>
                <a:latin typeface="Algerian" pitchFamily="82" charset="0"/>
              </a:rPr>
              <a:t>reusable SQL analysis for reporting and Power BI.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9966960" y="-228600"/>
            <a:ext cx="2743200" cy="1920240"/>
          </a:xfrm>
          <a:prstGeom prst="parallelogram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rallelogram 7"/>
          <p:cNvSpPr/>
          <p:nvPr/>
        </p:nvSpPr>
        <p:spPr>
          <a:xfrm>
            <a:off x="-731520" y="5577840"/>
            <a:ext cx="2926080" cy="1371600"/>
          </a:xfrm>
          <a:prstGeom prst="parallelogram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2.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28103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6991"/>
                </a:solidFill>
              </a:defRPr>
            </a:pPr>
            <a:r>
              <a:rPr sz="1400">
                <a:solidFill>
                  <a:srgbClr val="DCE5EB"/>
                </a:solidFill>
                <a:latin typeface="Algerian" pitchFamily="82" charset="0"/>
              </a:rPr>
              <a:t>Six-table relational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367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buFont typeface="Wingdings" pitchFamily="2" charset="2"/>
              <a:buChar char="q"/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customers — customer name, segment, country and region.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products — product name, category and unit price.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orders — order date, customer and payment method.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order_items — quantity, unit price, discount, sales, shipping and profit.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payments — payment date, method, status and amount.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events — Product View, Add to Cart and Purchase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66360"/>
            <a:ext cx="1828800" cy="73152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11705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400">
                <a:solidFill>
                  <a:srgbClr val="DCE5EB"/>
                </a:solidFill>
                <a:latin typeface="Algerian" pitchFamily="82" charset="0"/>
              </a:rP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166360"/>
            <a:ext cx="1828800" cy="73152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5257800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166360"/>
            <a:ext cx="2011680" cy="73152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5257800"/>
            <a:ext cx="13372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400">
                <a:solidFill>
                  <a:srgbClr val="DCE5EB"/>
                </a:solidFill>
                <a:latin typeface="Algerian" pitchFamily="82" charset="0"/>
              </a:rPr>
              <a:t>ORDER_ITEMS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5166360"/>
            <a:ext cx="1828800" cy="73152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5257800"/>
            <a:ext cx="11657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5166360"/>
            <a:ext cx="1828800" cy="73152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5257800"/>
            <a:ext cx="10967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400">
                <a:solidFill>
                  <a:srgbClr val="DCE5EB"/>
                </a:solidFill>
                <a:latin typeface="Algerian" pitchFamily="82" charset="0"/>
              </a:rPr>
              <a:t>PAYMENTS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rallelogram 16"/>
          <p:cNvSpPr/>
          <p:nvPr/>
        </p:nvSpPr>
        <p:spPr>
          <a:xfrm>
            <a:off x="8869680" y="-411480"/>
            <a:ext cx="4114800" cy="182880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arallelogram 17"/>
          <p:cNvSpPr/>
          <p:nvPr/>
        </p:nvSpPr>
        <p:spPr>
          <a:xfrm>
            <a:off x="10149840" y="5212080"/>
            <a:ext cx="2743200" cy="155448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arallelogram 18"/>
          <p:cNvSpPr/>
          <p:nvPr/>
        </p:nvSpPr>
        <p:spPr>
          <a:xfrm>
            <a:off x="-640080" y="5897880"/>
            <a:ext cx="1970116" cy="777239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0"/>
                </a:solidFill>
              </a:defRPr>
            </a:pPr>
            <a:r>
              <a:rPr/>
              <a:t>3. 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6991"/>
                </a:solidFill>
              </a:defRPr>
            </a:pPr>
            <a:r>
              <a:rPr/>
              <a:t>Sample records used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476302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400">
                <a:latin typeface="Algerian" pitchFamily="82" charset="0"/>
              </a:rPr>
              <a:t>CUSTOMERS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 lang="en-IN" dirty="0" smtClean="0"/>
              <a:t> </a:t>
            </a:r>
            <a:r>
              <a:rPr smtClean="0"/>
              <a:t>20</a:t>
            </a:r>
            <a:endParaRPr/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400"/>
              <a:t>Customer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6304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1554480"/>
            <a:ext cx="1340880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400">
                <a:latin typeface="Algerian" pitchFamily="82" charset="0"/>
              </a:rPr>
              <a:t>PRODUCTS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t>20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400"/>
              <a:t>Product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46304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06440" y="1554480"/>
            <a:ext cx="1180131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latin typeface="Algerian" pitchFamily="82" charset="0"/>
              </a:rPr>
              <a:t>ORDERS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t>20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400"/>
              <a:t>Jan–Apr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1466171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latin typeface="Algerian" pitchFamily="82" charset="0"/>
              </a:rPr>
              <a:t>ORDER ITEMS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t>40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400"/>
              <a:t>Line-level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3063240"/>
            <a:ext cx="2468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3154680"/>
            <a:ext cx="1582741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latin typeface="Algerian" pitchFamily="82" charset="0"/>
              </a:rPr>
              <a:t>PAYMENTS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t>20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600"/>
              <a:t>Payment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3063240"/>
            <a:ext cx="2468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3154680"/>
            <a:ext cx="1591077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latin typeface="Algerian" pitchFamily="82" charset="0"/>
              </a:rPr>
              <a:t>EVENTS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t>60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600"/>
              <a:t>Behavior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698480" cy="695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Primary and foreign keys maintain data integrity.</a:t>
            </a:r>
          </a:p>
          <a:p>
            <a:pPr>
              <a:spcAft>
                <a:spcPts val="1100"/>
              </a:spcAft>
              <a:defRPr sz="15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SELECT, COUNT, JOIN and GROUP BY were used for </a:t>
            </a:r>
            <a:r>
              <a:rPr>
                <a:latin typeface="Algerian" pitchFamily="82" charset="0"/>
              </a:rPr>
              <a:t>validation</a:t>
            </a:r>
            <a:r>
              <a:rPr smtClean="0">
                <a:latin typeface="Algerian" pitchFamily="82" charset="0"/>
              </a:rPr>
              <a:t>.</a:t>
            </a:r>
            <a:endParaRPr>
              <a:latin typeface="Algerian" pitchFamily="8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arallelogram 18"/>
          <p:cNvSpPr/>
          <p:nvPr/>
        </p:nvSpPr>
        <p:spPr>
          <a:xfrm>
            <a:off x="9966960" y="-228600"/>
            <a:ext cx="2743200" cy="1920240"/>
          </a:xfrm>
          <a:prstGeom prst="parallelogram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rallelogram 19"/>
          <p:cNvSpPr/>
          <p:nvPr/>
        </p:nvSpPr>
        <p:spPr>
          <a:xfrm>
            <a:off x="-731520" y="5577840"/>
            <a:ext cx="2926080" cy="1371600"/>
          </a:xfrm>
          <a:prstGeom prst="parallelogram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0"/>
                </a:solidFill>
              </a:defRPr>
            </a:pPr>
            <a:r>
              <a:rPr/>
              <a:t>4. SQL Analysis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39100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6991"/>
                </a:solidFill>
              </a:defRPr>
            </a:pPr>
            <a:r>
              <a:rPr sz="1600">
                <a:latin typeface="Algerian" pitchFamily="82" charset="0"/>
              </a:rPr>
              <a:t>Main SQL techniques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COUNT and COUNT(DISTINCT) — customers, orders and unique users.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SUM — revenue, quantity, profit, shipping and payment amount.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JOIN — connect customers, orders, order_items and products.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GROUP BY + ORDER BY — category, region, segment and payment analysis.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DATE_FORMAT — monthly sales and profit trends.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CASE — customer funnel and event-stage calculations.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ROUND, LIMIT, subqueries and UNION ALL — KPI reporting.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9966960" y="-228600"/>
            <a:ext cx="2743200" cy="1920240"/>
          </a:xfrm>
          <a:prstGeom prst="parallelogram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rallelogram 7"/>
          <p:cNvSpPr/>
          <p:nvPr/>
        </p:nvSpPr>
        <p:spPr>
          <a:xfrm>
            <a:off x="-731520" y="5577840"/>
            <a:ext cx="2926080" cy="1371600"/>
          </a:xfrm>
          <a:prstGeom prst="parallelogram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0"/>
                </a:solidFill>
              </a:defRPr>
            </a:pPr>
            <a:r>
              <a:rPr/>
              <a:t>5. Sales, Product &amp; Customer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42418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6991"/>
                </a:solidFill>
              </a:defRPr>
            </a:pPr>
            <a:r>
              <a:rPr sz="1600">
                <a:latin typeface="Algerian" pitchFamily="82" charset="0"/>
              </a:rPr>
              <a:t>Business questions answered with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459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Top 5 customers by revenue — identifies high-value customers.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Top 5 products by sales — identifies revenue-driving products.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Sales by category — compares four product categories.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Sales by region and country — evaluates geographic performance.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Profit margin by product — compares sales and profit.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latin typeface="Algerian" pitchFamily="82" charset="0"/>
              </a:rPr>
              <a:t>Revenue by customer segment — Consumer, Corporate and Home Office.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9966960" y="-228600"/>
            <a:ext cx="2743200" cy="1920240"/>
          </a:xfrm>
          <a:prstGeom prst="parallelogram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rallelogram 7"/>
          <p:cNvSpPr/>
          <p:nvPr/>
        </p:nvSpPr>
        <p:spPr>
          <a:xfrm>
            <a:off x="-731520" y="5577840"/>
            <a:ext cx="2926080" cy="1371600"/>
          </a:xfrm>
          <a:prstGeom prst="parallelogram">
            <a:avLst/>
          </a:prstGeom>
          <a:solidFill>
            <a:srgbClr val="E1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6. Payment &amp; Customer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37994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6991"/>
                </a:solidFill>
              </a:defRPr>
            </a:pPr>
            <a:r>
              <a:rPr sz="1400">
                <a:solidFill>
                  <a:srgbClr val="DCE5EB"/>
                </a:solidFill>
                <a:latin typeface="Algerian" pitchFamily="82" charset="0"/>
              </a:rPr>
              <a:t>Transaction and behavioral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377440" cy="123444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06017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PRODUCT VIEWS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20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unique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63040"/>
            <a:ext cx="2377440" cy="123444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06017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ADD TO CART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20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unique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2377440" cy="123444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554480"/>
            <a:ext cx="206017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PURCHASES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20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unique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463040"/>
            <a:ext cx="2377440" cy="123444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554480"/>
            <a:ext cx="220284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OVERALL FUNNEL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100%*</a:t>
            </a:r>
          </a:p>
          <a:p>
            <a:pPr>
              <a:defRPr sz="900">
                <a:solidFill>
                  <a:srgbClr val="2D343C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sample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0698480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Event analysis counts total events and unique customers by event type.</a:t>
            </a:r>
          </a:p>
          <a:p>
            <a:pPr>
              <a:spcAft>
                <a:spcPts val="1100"/>
              </a:spcAft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Customer funnel: Product View → Add to Cart → Purchase.</a:t>
            </a:r>
          </a:p>
          <a:p>
            <a:pPr>
              <a:spcAft>
                <a:spcPts val="1100"/>
              </a:spcAft>
              <a:defRPr sz="17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Payment analysis compares transaction count and amount by payment method.</a:t>
            </a:r>
          </a:p>
          <a:p>
            <a:pPr>
              <a:spcAft>
                <a:spcPts val="1100"/>
              </a:spcAft>
              <a:defRPr sz="1700">
                <a:solidFill>
                  <a:srgbClr val="2D343C"/>
                </a:solidFill>
              </a:defRPr>
            </a:pPr>
            <a:endParaRPr>
              <a:solidFill>
                <a:srgbClr val="DCE5EB"/>
              </a:solidFill>
              <a:latin typeface="Algerian" pitchFamily="8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arallelogram 14"/>
          <p:cNvSpPr/>
          <p:nvPr/>
        </p:nvSpPr>
        <p:spPr>
          <a:xfrm>
            <a:off x="8869680" y="-411480"/>
            <a:ext cx="4114800" cy="182880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arallelogram 15"/>
          <p:cNvSpPr/>
          <p:nvPr/>
        </p:nvSpPr>
        <p:spPr>
          <a:xfrm>
            <a:off x="10149840" y="5212080"/>
            <a:ext cx="2743200" cy="155448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rallelogram 16"/>
          <p:cNvSpPr/>
          <p:nvPr/>
        </p:nvSpPr>
        <p:spPr>
          <a:xfrm>
            <a:off x="-640080" y="5303520"/>
            <a:ext cx="2926080" cy="137160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7. Final Outcome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38731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6991"/>
                </a:solidFill>
              </a:defRPr>
            </a:pPr>
            <a:r>
              <a:rPr sz="1600">
                <a:solidFill>
                  <a:srgbClr val="DCE5EB"/>
                </a:solidFill>
                <a:latin typeface="Algerian" pitchFamily="82" charset="0"/>
              </a:rPr>
              <a:t>Portfolio-ready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7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Built a six-table relational e-commerce analytics database in MySQL.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Demonstrated DDL, DML, joins, aggregation, CASE, date functions and subqueries.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Analyzed sales, customers, products, profitability, payments and customer </a:t>
            </a:r>
            <a:r>
              <a:rPr lang="en-IN" dirty="0" smtClean="0">
                <a:solidFill>
                  <a:srgbClr val="DCE5EB"/>
                </a:solidFill>
                <a:latin typeface="Algerian" pitchFamily="82" charset="0"/>
              </a:rPr>
              <a:t>   </a:t>
            </a:r>
            <a:r>
              <a:rPr smtClean="0">
                <a:solidFill>
                  <a:srgbClr val="DCE5EB"/>
                </a:solidFill>
                <a:latin typeface="Algerian" pitchFamily="82" charset="0"/>
              </a:rPr>
              <a:t>behavior</a:t>
            </a:r>
            <a:r>
              <a:rPr>
                <a:solidFill>
                  <a:srgbClr val="DCE5EB"/>
                </a:solidFill>
                <a:latin typeface="Algerian" pitchFamily="82" charset="0"/>
              </a:rPr>
              <a:t>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Next: connect MySQL to Power BI and create an interactive dashboard.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Suggested pages: Executive Overview | Product &amp; Sales | Customer &amp; Funnel.</a:t>
            </a:r>
          </a:p>
          <a:p>
            <a:pPr>
              <a:spcAft>
                <a:spcPts val="1100"/>
              </a:spcAft>
              <a:buFont typeface="Wingdings" pitchFamily="2" charset="2"/>
              <a:buChar char="q"/>
              <a:defRPr sz="1800">
                <a:solidFill>
                  <a:srgbClr val="2D343C"/>
                </a:solidFill>
              </a:defRPr>
            </a:pPr>
            <a:r>
              <a:rPr>
                <a:solidFill>
                  <a:srgbClr val="DCE5EB"/>
                </a:solidFill>
                <a:latin typeface="Algerian" pitchFamily="82" charset="0"/>
              </a:rPr>
              <a:t>Project title: E-Commerce Sales &amp; Customer Analytics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5166360"/>
            <a:ext cx="2011680" cy="77724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86200" y="52578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>
                <a:solidFill>
                  <a:srgbClr val="DCE5EB"/>
                </a:solidFill>
              </a:rPr>
              <a:t>STATUS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5166360"/>
            <a:ext cx="2377440" cy="777240"/>
          </a:xfrm>
          <a:prstGeom prst="roundRect">
            <a:avLst/>
          </a:prstGeom>
          <a:solidFill>
            <a:srgbClr val="1E2F46"/>
          </a:solidFill>
          <a:ln>
            <a:solidFill>
              <a:srgbClr val="41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525780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26991"/>
                </a:solidFill>
              </a:defRPr>
            </a:pPr>
            <a:r>
              <a:rPr>
                <a:solidFill>
                  <a:srgbClr val="DCE5EB"/>
                </a:solidFill>
              </a:rPr>
              <a:t>NEXT STEP</a:t>
            </a:r>
          </a:p>
          <a:p>
            <a:pPr>
              <a:defRPr sz="2100" b="1">
                <a:solidFill>
                  <a:srgbClr val="1C2B40"/>
                </a:solidFill>
              </a:defRPr>
            </a:pPr>
            <a:r>
              <a:rPr>
                <a:solidFill>
                  <a:srgbClr val="DCE5EB"/>
                </a:solidFill>
              </a:rPr>
              <a:t>POWER BI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rallelogram 10"/>
          <p:cNvSpPr/>
          <p:nvPr/>
        </p:nvSpPr>
        <p:spPr>
          <a:xfrm>
            <a:off x="8869680" y="-411480"/>
            <a:ext cx="4114800" cy="182880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arallelogram 11"/>
          <p:cNvSpPr/>
          <p:nvPr/>
        </p:nvSpPr>
        <p:spPr>
          <a:xfrm>
            <a:off x="10149840" y="5212080"/>
            <a:ext cx="2743200" cy="155448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arallelogram 12"/>
          <p:cNvSpPr/>
          <p:nvPr/>
        </p:nvSpPr>
        <p:spPr>
          <a:xfrm>
            <a:off x="-640080" y="5303520"/>
            <a:ext cx="2926080" cy="1371600"/>
          </a:xfrm>
          <a:prstGeom prst="parallelogram">
            <a:avLst/>
          </a:prstGeom>
          <a:solidFill>
            <a:srgbClr val="265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575</Words>
  <Application>Microsoft Macintosh PowerPoint</Application>
  <PresentationFormat>Custom</PresentationFormat>
  <Paragraphs>100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SUPERSTAR</cp:lastModifiedBy>
  <cp:revision>4</cp:revision>
  <dcterms:created xsi:type="dcterms:W3CDTF">2013-01-27T09:14:16Z</dcterms:created>
  <dcterms:modified xsi:type="dcterms:W3CDTF">2026-09-01T13:03:39Z</dcterms:modified>
  <cp:category/>
</cp:coreProperties>
</file>